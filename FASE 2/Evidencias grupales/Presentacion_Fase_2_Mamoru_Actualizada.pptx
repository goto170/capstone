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5" roundtripDataSignature="AMtx7mhhZl7eFF3JcrmjLNhFQuZzXHtD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Presentación de la fase 2 del proyecto Mamoru. Integrantes: Diego Mellado y Antonella Valdés. Docente: Osnellys Andrade. Asignatura: Capstone. Fecha: 06/10/2026.</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Mamoru proviene del verbo japonés 守る, proteger. Nuestro eslogan es Amor · Protección · Servicio. Queremos acompañar con cariño a las personas mayores y dar tranquilidad a quienes las quieren. La app ayuda a organizar actividades y servicios; el portal apoya la gestión. Fuente del significado: https://www.japandict.com/守る?lang=en.</a:t>
            </a:r>
            <a:endParaRPr/>
          </a:p>
        </p:txBody>
      </p:sp>
      <p:sp>
        <p:nvSpPr>
          <p:cNvPr id="91" name="Google Shape;9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problemas de PostgreSQL y Gradle se resolvieron mediante ajustes y validación progresiva. La ausencia de bitácoras es un pendiente documental; no implica que la configuración esté incompleta.</a:t>
            </a:r>
            <a:endParaRPr/>
          </a:p>
        </p:txBody>
      </p:sp>
      <p:sp>
        <p:nvSpPr>
          <p:cNvPr id="102" name="Google Shape;10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adulto mayor ingresa con código; el QR se genera, pero la cámara todavía no lo escanea. La recuperación tiene pantallas, pero no una operación funcional. La aprobación administrativa existe; faltan los correos de aviso.</a:t>
            </a:r>
            <a:endParaRPr/>
          </a:p>
        </p:txBody>
      </p:sp>
      <p:sp>
        <p:nvSpPr>
          <p:cNvPr id="119" name="Google Shape;11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adulto mayor puede completar o indicar que no pudo desde su vista simplificada; la lista de tareas es de solo lectura. El cambio automático de estado todavía depende de mantener la app abierta. El SOS no envía SMS, llamadas ni push. Las observaciones ya están conectadas, pero el seguimiento y los ajustes de horario requieren confirmar pruebas.</a:t>
            </a:r>
            <a:endParaRPr/>
          </a:p>
        </p:txBody>
      </p:sp>
      <p:sp>
        <p:nvSpPr>
          <p:cNvPr id="136" name="Google Shape;13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servidor controla cuándo el cuidador puede ver los datos críticos. La finalización primero confirma con la API y retira el acceso al cerrar. Estas correcciones todavía deben comprobarse en el dispositivo. El chat es de ejemplo; aún no existe la pantalla para valorar al cuidador.</a:t>
            </a:r>
            <a:endParaRPr/>
          </a:p>
        </p:txBody>
      </p:sp>
      <p:sp>
        <p:nvSpPr>
          <p:cNvPr id="153" name="Google Shape;15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quinto sprint agrupa consolidación y cierre documental, no certifica que todas sus tareas estén terminadas. El portal modera reseñas reportadas, pero el flujo completo de valoración desde la app sigue pendiente. Faltan también motivo de rechazo del cuidador, revisión de documentos y reconsideración de rechazados. La solución se ha probado en Android; no hay publicación en nube ni pruebas iOS.</a:t>
            </a:r>
            <a:endParaRPr/>
          </a:p>
        </p:txBody>
      </p:sp>
      <p:sp>
        <p:nvSpPr>
          <p:cNvPr id="170" name="Google Shape;17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presentamos los cinco sprints como completamente terminados. La base técnica está cumplida; los sprints funcionales tienen pendientes y la última iteración está en consolidación. El siguiente paso prioritario es la valoración del familiar, seguido de reglas y pruebas. Los porcentajes del manual son orientativos y no equivalen a una certificación de calidad. Fuentes: manual de Mamoru y documento de sprints actualizado.</a:t>
            </a:r>
            <a:endParaRPr/>
          </a:p>
        </p:txBody>
      </p:sp>
      <p:sp>
        <p:nvSpPr>
          <p:cNvPr id="187" name="Google Shape;18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2a12894ae9fd902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h2a12894ae9fd902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Presentación de la fase 2 del proyecto Mamoru. Integrantes: Diego Mellado y Antonella Valdés. Docente: Osnellys Andrade. Asignatura: Capstone. Fecha: 06/10/2026.</a:t>
            </a:r>
            <a:endParaRPr/>
          </a:p>
        </p:txBody>
      </p:sp>
      <p:sp>
        <p:nvSpPr>
          <p:cNvPr id="203" name="Google Shape;203;h2a12894ae9fd902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E45"/>
        </a:solidFill>
      </p:bgPr>
    </p:bg>
    <p:spTree>
      <p:nvGrpSpPr>
        <p:cNvPr id="84" name="Shape 84"/>
        <p:cNvGrpSpPr/>
        <p:nvPr/>
      </p:nvGrpSpPr>
      <p:grpSpPr>
        <a:xfrm>
          <a:off x="0" y="0"/>
          <a:ext cx="0" cy="0"/>
          <a:chOff x="0" y="0"/>
          <a:chExt cx="0" cy="0"/>
        </a:xfrm>
      </p:grpSpPr>
      <p:sp>
        <p:nvSpPr>
          <p:cNvPr id="85" name="Google Shape;85;p1"/>
          <p:cNvSpPr txBox="1"/>
          <p:nvPr/>
        </p:nvSpPr>
        <p:spPr>
          <a:xfrm>
            <a:off x="822960" y="1143000"/>
            <a:ext cx="1060704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600" u="none" cap="none" strike="noStrike">
                <a:solidFill>
                  <a:srgbClr val="FFFFFF"/>
                </a:solidFill>
                <a:latin typeface="Calibri"/>
                <a:ea typeface="Calibri"/>
                <a:cs typeface="Calibri"/>
                <a:sym typeface="Calibri"/>
              </a:rPr>
              <a:t>Fase 2: Mamoru</a:t>
            </a:r>
            <a:endParaRPr/>
          </a:p>
        </p:txBody>
      </p:sp>
      <p:sp>
        <p:nvSpPr>
          <p:cNvPr id="86" name="Google Shape;86;p1"/>
          <p:cNvSpPr txBox="1"/>
          <p:nvPr/>
        </p:nvSpPr>
        <p:spPr>
          <a:xfrm>
            <a:off x="868680" y="2423160"/>
            <a:ext cx="1042416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A8DFD2"/>
                </a:solidFill>
                <a:latin typeface="Calibri"/>
                <a:ea typeface="Calibri"/>
                <a:cs typeface="Calibri"/>
                <a:sym typeface="Calibri"/>
              </a:rPr>
              <a:t>AMOR · PROTECCIÓN · SERVICIO</a:t>
            </a:r>
            <a:endParaRPr/>
          </a:p>
        </p:txBody>
      </p:sp>
      <p:sp>
        <p:nvSpPr>
          <p:cNvPr id="87" name="Google Shape;87;p1"/>
          <p:cNvSpPr txBox="1"/>
          <p:nvPr/>
        </p:nvSpPr>
        <p:spPr>
          <a:xfrm>
            <a:off x="868680" y="3657600"/>
            <a:ext cx="1042416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FFFF"/>
                </a:solidFill>
                <a:latin typeface="Calibri"/>
                <a:ea typeface="Calibri"/>
                <a:cs typeface="Calibri"/>
                <a:sym typeface="Calibri"/>
              </a:rPr>
              <a:t>Integrantes: Diego Mellado y Antonella Valdés</a:t>
            </a:r>
            <a:endParaRPr/>
          </a:p>
          <a:p>
            <a:pPr indent="0" lvl="0" marL="0" marR="0" rtl="0" algn="l">
              <a:spcBef>
                <a:spcPts val="1200"/>
              </a:spcBef>
              <a:spcAft>
                <a:spcPts val="0"/>
              </a:spcAft>
              <a:buNone/>
            </a:pPr>
            <a:r>
              <a:rPr b="0" i="0" lang="en-US" sz="2400" u="none" cap="none" strike="noStrike">
                <a:solidFill>
                  <a:srgbClr val="FFFFFF"/>
                </a:solidFill>
                <a:latin typeface="Calibri"/>
                <a:ea typeface="Calibri"/>
                <a:cs typeface="Calibri"/>
                <a:sym typeface="Calibri"/>
              </a:rPr>
              <a:t>Docente: Osnellys Andrade</a:t>
            </a:r>
            <a:endParaRPr/>
          </a:p>
          <a:p>
            <a:pPr indent="0" lvl="0" marL="0" marR="0" rtl="0" algn="l">
              <a:spcBef>
                <a:spcPts val="1200"/>
              </a:spcBef>
              <a:spcAft>
                <a:spcPts val="0"/>
              </a:spcAft>
              <a:buNone/>
            </a:pPr>
            <a:r>
              <a:rPr b="0" i="0" lang="en-US" sz="2400" u="none" cap="none" strike="noStrike">
                <a:solidFill>
                  <a:srgbClr val="FFFFFF"/>
                </a:solidFill>
                <a:latin typeface="Calibri"/>
                <a:ea typeface="Calibri"/>
                <a:cs typeface="Calibri"/>
                <a:sym typeface="Calibri"/>
              </a:rPr>
              <a:t>Asignatura: Capstone</a:t>
            </a:r>
            <a:endParaRPr/>
          </a:p>
          <a:p>
            <a:pPr indent="0" lvl="0" marL="0" marR="0" rtl="0" algn="l">
              <a:spcBef>
                <a:spcPts val="1200"/>
              </a:spcBef>
              <a:spcAft>
                <a:spcPts val="0"/>
              </a:spcAft>
              <a:buNone/>
            </a:pPr>
            <a:r>
              <a:rPr b="0" i="0" lang="en-US" sz="2400" u="none" cap="none" strike="noStrike">
                <a:solidFill>
                  <a:srgbClr val="FFFFFF"/>
                </a:solidFill>
                <a:latin typeface="Calibri"/>
                <a:ea typeface="Calibri"/>
                <a:cs typeface="Calibri"/>
                <a:sym typeface="Calibri"/>
              </a:rPr>
              <a:t>Fecha: 06/10/2026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92" name="Shape 92"/>
        <p:cNvGrpSpPr/>
        <p:nvPr/>
      </p:nvGrpSpPr>
      <p:grpSpPr>
        <a:xfrm>
          <a:off x="0" y="0"/>
          <a:ext cx="0" cy="0"/>
          <a:chOff x="0" y="0"/>
          <a:chExt cx="0" cy="0"/>
        </a:xfrm>
      </p:grpSpPr>
      <p:sp>
        <p:nvSpPr>
          <p:cNvPr id="93" name="Google Shape;93;p2"/>
          <p:cNvSpPr txBox="1"/>
          <p:nvPr/>
        </p:nvSpPr>
        <p:spPr>
          <a:xfrm>
            <a:off x="640080" y="411480"/>
            <a:ext cx="109728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153E45"/>
                </a:solidFill>
                <a:latin typeface="Calibri"/>
                <a:ea typeface="Calibri"/>
                <a:cs typeface="Calibri"/>
                <a:sym typeface="Calibri"/>
              </a:rPr>
              <a:t>¿Qué es Mamoru?</a:t>
            </a:r>
            <a:endParaRPr/>
          </a:p>
        </p:txBody>
      </p:sp>
      <p:sp>
        <p:nvSpPr>
          <p:cNvPr id="94" name="Google Shape;94;p2"/>
          <p:cNvSpPr txBox="1"/>
          <p:nvPr/>
        </p:nvSpPr>
        <p:spPr>
          <a:xfrm>
            <a:off x="640080" y="1371600"/>
            <a:ext cx="109728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53E45"/>
                </a:solidFill>
                <a:latin typeface="Calibri"/>
                <a:ea typeface="Calibri"/>
                <a:cs typeface="Calibri"/>
                <a:sym typeface="Calibri"/>
              </a:rPr>
              <a:t>Mamoru significa «proteger» en japonés.</a:t>
            </a:r>
            <a:endParaRPr/>
          </a:p>
        </p:txBody>
      </p:sp>
      <p:sp>
        <p:nvSpPr>
          <p:cNvPr id="95" name="Google Shape;95;p2"/>
          <p:cNvSpPr txBox="1"/>
          <p:nvPr/>
        </p:nvSpPr>
        <p:spPr>
          <a:xfrm>
            <a:off x="640080" y="224028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300" u="none" cap="none" strike="noStrike">
                <a:solidFill>
                  <a:srgbClr val="227C80"/>
                </a:solidFill>
                <a:latin typeface="Calibri"/>
                <a:ea typeface="Calibri"/>
                <a:cs typeface="Calibri"/>
                <a:sym typeface="Calibri"/>
              </a:rPr>
              <a:t>AMOR · PROTECCIÓN · SERVICIO</a:t>
            </a:r>
            <a:endParaRPr/>
          </a:p>
        </p:txBody>
      </p:sp>
      <p:sp>
        <p:nvSpPr>
          <p:cNvPr id="96" name="Google Shape;96;p2"/>
          <p:cNvSpPr txBox="1"/>
          <p:nvPr/>
        </p:nvSpPr>
        <p:spPr>
          <a:xfrm>
            <a:off x="640080" y="3246120"/>
            <a:ext cx="1097280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500" u="none" cap="none" strike="noStrike">
                <a:solidFill>
                  <a:srgbClr val="153E45"/>
                </a:solidFill>
                <a:latin typeface="Calibri"/>
                <a:ea typeface="Calibri"/>
                <a:cs typeface="Calibri"/>
                <a:sym typeface="Calibri"/>
              </a:rPr>
              <a:t>Mamoru nace del amor por las personas mayores y del deseo de acompañar a quienes tanto nos han cuidado. Busca dar tranquilidad a sus familias y ayudarles a sentirse cerca, incluso cuando están lejos.</a:t>
            </a:r>
            <a:endParaRPr/>
          </a:p>
        </p:txBody>
      </p:sp>
      <p:sp>
        <p:nvSpPr>
          <p:cNvPr id="97" name="Google Shape;97;p2"/>
          <p:cNvSpPr txBox="1"/>
          <p:nvPr/>
        </p:nvSpPr>
        <p:spPr>
          <a:xfrm>
            <a:off x="640080" y="4983480"/>
            <a:ext cx="10972800" cy="114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53666B"/>
                </a:solidFill>
                <a:latin typeface="Calibri"/>
                <a:ea typeface="Calibri"/>
                <a:cs typeface="Calibri"/>
                <a:sym typeface="Calibri"/>
              </a:rPr>
              <a:t>A través de una app, reúne a personas mayores, familiares y cuidadores para organizar el cuidado diario y compartir cómo se encuentran. Su portal ayuda a gestionar a los cuidadores y atender las alertas.</a:t>
            </a:r>
            <a:endParaRPr/>
          </a:p>
        </p:txBody>
      </p:sp>
      <p:sp>
        <p:nvSpPr>
          <p:cNvPr id="98" name="Google Shape;98;p2"/>
          <p:cNvSpPr txBox="1"/>
          <p:nvPr/>
        </p:nvSpPr>
        <p:spPr>
          <a:xfrm>
            <a:off x="640080" y="6446520"/>
            <a:ext cx="10972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Calibri"/>
                <a:ea typeface="Calibri"/>
                <a:cs typeface="Calibri"/>
                <a:sym typeface="Calibri"/>
              </a:rPr>
              <a:t>Mamoru · Cuidar también es una forma de amar.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03" name="Shape 103"/>
        <p:cNvGrpSpPr/>
        <p:nvPr/>
      </p:nvGrpSpPr>
      <p:grpSpPr>
        <a:xfrm>
          <a:off x="0" y="0"/>
          <a:ext cx="0" cy="0"/>
          <a:chOff x="0" y="0"/>
          <a:chExt cx="0" cy="0"/>
        </a:xfrm>
      </p:grpSpPr>
      <p:sp>
        <p:nvSpPr>
          <p:cNvPr id="104" name="Google Shape;104;p3"/>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05" name="Google Shape;105;p3"/>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Sprint 1 · Base técnica</a:t>
            </a:r>
            <a:endParaRPr/>
          </a:p>
        </p:txBody>
      </p:sp>
      <p:sp>
        <p:nvSpPr>
          <p:cNvPr id="106" name="Google Shape;106;p3"/>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Objetivo: preparar el entorno y la estructura del proyecto.</a:t>
            </a:r>
            <a:endParaRPr/>
          </a:p>
        </p:txBody>
      </p:sp>
      <p:sp>
        <p:nvSpPr>
          <p:cNvPr id="107" name="Google Shape;107;p3"/>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08" name="Google Shape;108;p3"/>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03</a:t>
            </a:r>
            <a:endParaRPr/>
          </a:p>
        </p:txBody>
      </p:sp>
      <p:sp>
        <p:nvSpPr>
          <p:cNvPr id="109" name="Google Shape;109;p3"/>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3"/>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CUMPLIDO</a:t>
            </a:r>
            <a:endParaRPr/>
          </a:p>
        </p:txBody>
      </p:sp>
      <p:sp>
        <p:nvSpPr>
          <p:cNvPr id="111" name="Google Shape;111;p3"/>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Flutter y entorno Android configurados.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PostgreSQL y base Mamoru preparados.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FastAPI y estructura inicial del proyecto.</a:t>
            </a:r>
            <a:endParaRPr/>
          </a:p>
        </p:txBody>
      </p:sp>
      <p:sp>
        <p:nvSpPr>
          <p:cNvPr id="112" name="Google Shape;112;p3"/>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PENDIENTE</a:t>
            </a:r>
            <a:endParaRPr/>
          </a:p>
        </p:txBody>
      </p:sp>
      <p:sp>
        <p:nvSpPr>
          <p:cNvPr id="114" name="Google Shape;114;p3"/>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No se reportan tareas funcionales pendientes de este sprint.</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Faltó registrar horas y fechas para medir la ejecución.</a:t>
            </a:r>
            <a:endParaRPr/>
          </a:p>
        </p:txBody>
      </p:sp>
      <p:sp>
        <p:nvSpPr>
          <p:cNvPr id="115" name="Google Shape;115;p3"/>
          <p:cNvSpPr txBox="1"/>
          <p:nvPr/>
        </p:nvSpPr>
        <p:spPr>
          <a:xfrm>
            <a:off x="822960" y="6016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27C80"/>
                </a:solidFill>
                <a:latin typeface="Arial"/>
                <a:ea typeface="Arial"/>
                <a:cs typeface="Arial"/>
                <a:sym typeface="Arial"/>
              </a:rPr>
              <a:t>BASE COMPLETADA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20" name="Shape 120"/>
        <p:cNvGrpSpPr/>
        <p:nvPr/>
      </p:nvGrpSpPr>
      <p:grpSpPr>
        <a:xfrm>
          <a:off x="0" y="0"/>
          <a:ext cx="0" cy="0"/>
          <a:chOff x="0" y="0"/>
          <a:chExt cx="0" cy="0"/>
        </a:xfrm>
      </p:grpSpPr>
      <p:sp>
        <p:nvSpPr>
          <p:cNvPr id="121" name="Google Shape;121;p4"/>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22" name="Google Shape;122;p4"/>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Sprint 2 · Diseño, acceso y roles</a:t>
            </a:r>
            <a:endParaRPr/>
          </a:p>
        </p:txBody>
      </p:sp>
      <p:sp>
        <p:nvSpPr>
          <p:cNvPr id="123" name="Google Shape;123;p4"/>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Objetivo: construir interfaces y acceso diferenciado por usuario.</a:t>
            </a:r>
            <a:endParaRPr/>
          </a:p>
        </p:txBody>
      </p:sp>
      <p:sp>
        <p:nvSpPr>
          <p:cNvPr id="124" name="Google Shape;124;p4"/>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25" name="Google Shape;125;p4"/>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04</a:t>
            </a:r>
            <a:endParaRPr/>
          </a:p>
        </p:txBody>
      </p:sp>
      <p:sp>
        <p:nvSpPr>
          <p:cNvPr id="126" name="Google Shape;126;p4"/>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CUMPLIDO</a:t>
            </a:r>
            <a:endParaRPr/>
          </a:p>
        </p:txBody>
      </p:sp>
      <p:sp>
        <p:nvSpPr>
          <p:cNvPr id="128" name="Google Shape;128;p4"/>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Interfaces por rol y navegación en Flutter.</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Registro, ingreso y sesión recordada.</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Vinculación por código y aprobación del cuidador.</a:t>
            </a:r>
            <a:endParaRPr/>
          </a:p>
        </p:txBody>
      </p:sp>
      <p:sp>
        <p:nvSpPr>
          <p:cNvPr id="129" name="Google Shape;129;p4"/>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4"/>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PENDIENTE</a:t>
            </a:r>
            <a:endParaRPr/>
          </a:p>
        </p:txBody>
      </p:sp>
      <p:sp>
        <p:nvSpPr>
          <p:cNvPr id="131" name="Google Shape;131;p4"/>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Verificación por correo y recuperación de contraseña.</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Escaneo del QR.</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Documento que acredita la profesión.</a:t>
            </a:r>
            <a:endParaRPr/>
          </a:p>
        </p:txBody>
      </p:sp>
      <p:sp>
        <p:nvSpPr>
          <p:cNvPr id="132" name="Google Shape;132;p4"/>
          <p:cNvSpPr txBox="1"/>
          <p:nvPr/>
        </p:nvSpPr>
        <p:spPr>
          <a:xfrm>
            <a:off x="822960" y="6016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27C80"/>
                </a:solidFill>
                <a:latin typeface="Arial"/>
                <a:ea typeface="Arial"/>
                <a:cs typeface="Arial"/>
                <a:sym typeface="Arial"/>
              </a:rPr>
              <a:t>CUMPLIMIENTO PARCIAL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37" name="Shape 137"/>
        <p:cNvGrpSpPr/>
        <p:nvPr/>
      </p:nvGrpSpPr>
      <p:grpSpPr>
        <a:xfrm>
          <a:off x="0" y="0"/>
          <a:ext cx="0" cy="0"/>
          <a:chOff x="0" y="0"/>
          <a:chExt cx="0" cy="0"/>
        </a:xfrm>
      </p:grpSpPr>
      <p:sp>
        <p:nvSpPr>
          <p:cNvPr id="138" name="Google Shape;138;p5"/>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39" name="Google Shape;139;p5"/>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Sprint 3 · Actividades y seguimiento</a:t>
            </a:r>
            <a:endParaRPr/>
          </a:p>
        </p:txBody>
      </p:sp>
      <p:sp>
        <p:nvSpPr>
          <p:cNvPr id="140" name="Google Shape;140;p5"/>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Objetivo: registrar tareas, observaciones y alertas SOS.</a:t>
            </a:r>
            <a:endParaRPr/>
          </a:p>
        </p:txBody>
      </p:sp>
      <p:sp>
        <p:nvSpPr>
          <p:cNvPr id="141" name="Google Shape;141;p5"/>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42" name="Google Shape;142;p5"/>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05</a:t>
            </a:r>
            <a:endParaRPr/>
          </a:p>
        </p:txBody>
      </p:sp>
      <p:sp>
        <p:nvSpPr>
          <p:cNvPr id="143" name="Google Shape;143;p5"/>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5"/>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CUMPLIDO</a:t>
            </a:r>
            <a:endParaRPr/>
          </a:p>
        </p:txBody>
      </p:sp>
      <p:sp>
        <p:nvSpPr>
          <p:cNvPr id="145" name="Google Shape;145;p5"/>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Creación de actividades y registro de estados.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Observaciones y seguimiento del familiar.</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SOS con alertas dentro del sistema.</a:t>
            </a:r>
            <a:endParaRPr/>
          </a:p>
        </p:txBody>
      </p:sp>
      <p:sp>
        <p:nvSpPr>
          <p:cNvPr id="146" name="Google Shape;146;p5"/>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5"/>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PENDIENTE</a:t>
            </a:r>
            <a:endParaRPr/>
          </a:p>
        </p:txBody>
      </p:sp>
      <p:sp>
        <p:nvSpPr>
          <p:cNvPr id="148" name="Google Shape;148;p5"/>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Automatizar “no realizada” desde el servidor.</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Validar el límite de 2 observaciones y enviar avisos.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Confirmar horarios y seguimiento en el celular.</a:t>
            </a:r>
            <a:endParaRPr/>
          </a:p>
        </p:txBody>
      </p:sp>
      <p:sp>
        <p:nvSpPr>
          <p:cNvPr id="149" name="Google Shape;149;p5"/>
          <p:cNvSpPr txBox="1"/>
          <p:nvPr/>
        </p:nvSpPr>
        <p:spPr>
          <a:xfrm>
            <a:off x="822960" y="6016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27C80"/>
                </a:solidFill>
                <a:latin typeface="Arial"/>
                <a:ea typeface="Arial"/>
                <a:cs typeface="Arial"/>
                <a:sym typeface="Arial"/>
              </a:rPr>
              <a:t>CUMPLIMIENTO PARCIAL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54" name="Shape 154"/>
        <p:cNvGrpSpPr/>
        <p:nvPr/>
      </p:nvGrpSpPr>
      <p:grpSpPr>
        <a:xfrm>
          <a:off x="0" y="0"/>
          <a:ext cx="0" cy="0"/>
          <a:chOff x="0" y="0"/>
          <a:chExt cx="0" cy="0"/>
        </a:xfrm>
      </p:grpSpPr>
      <p:sp>
        <p:nvSpPr>
          <p:cNvPr id="155" name="Google Shape;155;p6"/>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56" name="Google Shape;156;p6"/>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Sprint 4 · Marketplace y servicios</a:t>
            </a:r>
            <a:endParaRPr/>
          </a:p>
        </p:txBody>
      </p:sp>
      <p:sp>
        <p:nvSpPr>
          <p:cNvPr id="157" name="Google Shape;157;p6"/>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Objetivo: conectar búsqueda, solicitud y cierre de un servicio.</a:t>
            </a:r>
            <a:endParaRPr/>
          </a:p>
        </p:txBody>
      </p:sp>
      <p:sp>
        <p:nvSpPr>
          <p:cNvPr id="158" name="Google Shape;158;p6"/>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59" name="Google Shape;159;p6"/>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06</a:t>
            </a:r>
            <a:endParaRPr/>
          </a:p>
        </p:txBody>
      </p:sp>
      <p:sp>
        <p:nvSpPr>
          <p:cNvPr id="160" name="Google Shape;160;p6"/>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6"/>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CUMPLIDO</a:t>
            </a:r>
            <a:endParaRPr/>
          </a:p>
        </p:txBody>
      </p:sp>
      <p:sp>
        <p:nvSpPr>
          <p:cNvPr id="162" name="Google Shape;162;p6"/>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Perfiles, filtros y tarifas de cuidadores.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Solicitudes: aceptación o rechazo con motivo.</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Servicio vigente y finalización mediante API.</a:t>
            </a:r>
            <a:endParaRPr/>
          </a:p>
        </p:txBody>
      </p:sp>
      <p:sp>
        <p:nvSpPr>
          <p:cNvPr id="163" name="Google Shape;163;p6"/>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6"/>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PENDIENTE</a:t>
            </a:r>
            <a:endParaRPr/>
          </a:p>
        </p:txBody>
      </p:sp>
      <p:sp>
        <p:nvSpPr>
          <p:cNvPr id="165" name="Google Shape;165;p6"/>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Chat real y valoración del familiar.</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Solicitud de servicio puertas adentro.</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Confirmar cierre, historial y contactos en Android.</a:t>
            </a:r>
            <a:endParaRPr/>
          </a:p>
        </p:txBody>
      </p:sp>
      <p:sp>
        <p:nvSpPr>
          <p:cNvPr id="166" name="Google Shape;166;p6"/>
          <p:cNvSpPr txBox="1"/>
          <p:nvPr/>
        </p:nvSpPr>
        <p:spPr>
          <a:xfrm>
            <a:off x="822960" y="6016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27C80"/>
                </a:solidFill>
                <a:latin typeface="Arial"/>
                <a:ea typeface="Arial"/>
                <a:cs typeface="Arial"/>
                <a:sym typeface="Arial"/>
              </a:rPr>
              <a:t>CUMPLIMIENTO PARCIAL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71" name="Shape 171"/>
        <p:cNvGrpSpPr/>
        <p:nvPr/>
      </p:nvGrpSpPr>
      <p:grpSpPr>
        <a:xfrm>
          <a:off x="0" y="0"/>
          <a:ext cx="0" cy="0"/>
          <a:chOff x="0" y="0"/>
          <a:chExt cx="0" cy="0"/>
        </a:xfrm>
      </p:grpSpPr>
      <p:sp>
        <p:nvSpPr>
          <p:cNvPr id="172" name="Google Shape;172;p7"/>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73" name="Google Shape;173;p7"/>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Sprint 5 · Portal y cierre de fase</a:t>
            </a:r>
            <a:endParaRPr/>
          </a:p>
        </p:txBody>
      </p:sp>
      <p:sp>
        <p:nvSpPr>
          <p:cNvPr id="174" name="Google Shape;174;p7"/>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Objetivo: consolidar la administración, revisar integración y documentar.</a:t>
            </a:r>
            <a:endParaRPr/>
          </a:p>
        </p:txBody>
      </p:sp>
      <p:sp>
        <p:nvSpPr>
          <p:cNvPr id="175" name="Google Shape;175;p7"/>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76" name="Google Shape;176;p7"/>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07</a:t>
            </a:r>
            <a:endParaRPr/>
          </a:p>
        </p:txBody>
      </p:sp>
      <p:sp>
        <p:nvSpPr>
          <p:cNvPr id="177" name="Google Shape;177;p7"/>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7"/>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CUMPLIDO</a:t>
            </a:r>
            <a:endParaRPr/>
          </a:p>
        </p:txBody>
      </p:sp>
      <p:sp>
        <p:nvSpPr>
          <p:cNvPr id="179" name="Google Shape;179;p7"/>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Dashboard, usuarios y validación de cuidadores.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Solicitudes, SOS, moderación y auditoría.</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Informes y sprints actualizados preparados.</a:t>
            </a:r>
            <a:endParaRPr/>
          </a:p>
        </p:txBody>
      </p:sp>
      <p:sp>
        <p:nvSpPr>
          <p:cNvPr id="180" name="Google Shape;180;p7"/>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7"/>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PENDIENTE</a:t>
            </a:r>
            <a:endParaRPr/>
          </a:p>
        </p:txBody>
      </p:sp>
      <p:sp>
        <p:nvSpPr>
          <p:cNvPr id="182" name="Google Shape;182;p7"/>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Completar evidencias, pruebas y aprobación del cierre.</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Ajustes del portal: permisos y operaciones pendientes.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Correos, push, nube y pruebas iOS.</a:t>
            </a:r>
            <a:endParaRPr/>
          </a:p>
        </p:txBody>
      </p:sp>
      <p:sp>
        <p:nvSpPr>
          <p:cNvPr id="183" name="Google Shape;183;p7"/>
          <p:cNvSpPr txBox="1"/>
          <p:nvPr/>
        </p:nvSpPr>
        <p:spPr>
          <a:xfrm>
            <a:off x="822960" y="6016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27C80"/>
                </a:solidFill>
                <a:latin typeface="Arial"/>
                <a:ea typeface="Arial"/>
                <a:cs typeface="Arial"/>
                <a:sym typeface="Arial"/>
              </a:rPr>
              <a:t>EN CONSOLIDACIÓN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8"/>
        </a:solidFill>
      </p:bgPr>
    </p:bg>
    <p:spTree>
      <p:nvGrpSpPr>
        <p:cNvPr id="188" name="Shape 188"/>
        <p:cNvGrpSpPr/>
        <p:nvPr/>
      </p:nvGrpSpPr>
      <p:grpSpPr>
        <a:xfrm>
          <a:off x="0" y="0"/>
          <a:ext cx="0" cy="0"/>
          <a:chOff x="0" y="0"/>
          <a:chExt cx="0" cy="0"/>
        </a:xfrm>
      </p:grpSpPr>
      <p:sp>
        <p:nvSpPr>
          <p:cNvPr id="189" name="Google Shape;189;p8"/>
          <p:cNvSpPr txBox="1"/>
          <p:nvPr/>
        </p:nvSpPr>
        <p:spPr>
          <a:xfrm>
            <a:off x="548640" y="274320"/>
            <a:ext cx="9144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MAMORU  /  PROYECTO APT</a:t>
            </a:r>
            <a:endParaRPr/>
          </a:p>
        </p:txBody>
      </p:sp>
      <p:sp>
        <p:nvSpPr>
          <p:cNvPr id="190" name="Google Shape;190;p8"/>
          <p:cNvSpPr txBox="1"/>
          <p:nvPr/>
        </p:nvSpPr>
        <p:spPr>
          <a:xfrm>
            <a:off x="548640" y="822960"/>
            <a:ext cx="10972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53E45"/>
                </a:solidFill>
                <a:latin typeface="Arial"/>
                <a:ea typeface="Arial"/>
                <a:cs typeface="Arial"/>
                <a:sym typeface="Arial"/>
              </a:rPr>
              <a:t>Resultado y próximos pasos</a:t>
            </a:r>
            <a:endParaRPr/>
          </a:p>
        </p:txBody>
      </p:sp>
      <p:sp>
        <p:nvSpPr>
          <p:cNvPr id="191" name="Google Shape;191;p8"/>
          <p:cNvSpPr txBox="1"/>
          <p:nvPr/>
        </p:nvSpPr>
        <p:spPr>
          <a:xfrm>
            <a:off x="548640" y="1691640"/>
            <a:ext cx="109728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3666B"/>
                </a:solidFill>
                <a:latin typeface="Arial"/>
                <a:ea typeface="Arial"/>
                <a:cs typeface="Arial"/>
                <a:sym typeface="Arial"/>
              </a:rPr>
              <a:t>El flujo principal llega hasta finalizar el servicio; el producto sigue en desarrollo.</a:t>
            </a:r>
            <a:endParaRPr/>
          </a:p>
        </p:txBody>
      </p:sp>
      <p:sp>
        <p:nvSpPr>
          <p:cNvPr id="192" name="Google Shape;192;p8"/>
          <p:cNvSpPr txBox="1"/>
          <p:nvPr/>
        </p:nvSpPr>
        <p:spPr>
          <a:xfrm>
            <a:off x="548640" y="6446520"/>
            <a:ext cx="10058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3666B"/>
                </a:solidFill>
                <a:latin typeface="Arial"/>
                <a:ea typeface="Arial"/>
                <a:cs typeface="Arial"/>
                <a:sym typeface="Arial"/>
              </a:rPr>
              <a:t>Antonella Valdés Rojas · Diego Mellado Jara  |  Estado según manual al 06/10/2026</a:t>
            </a:r>
            <a:endParaRPr/>
          </a:p>
        </p:txBody>
      </p:sp>
      <p:sp>
        <p:nvSpPr>
          <p:cNvPr id="193" name="Google Shape;193;p8"/>
          <p:cNvSpPr txBox="1"/>
          <p:nvPr/>
        </p:nvSpPr>
        <p:spPr>
          <a:xfrm>
            <a:off x="11155680" y="6419088"/>
            <a:ext cx="5486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27C80"/>
                </a:solidFill>
                <a:latin typeface="Arial"/>
                <a:ea typeface="Arial"/>
                <a:cs typeface="Arial"/>
                <a:sym typeface="Arial"/>
              </a:rPr>
              <a:t>08</a:t>
            </a:r>
            <a:endParaRPr/>
          </a:p>
        </p:txBody>
      </p:sp>
      <p:sp>
        <p:nvSpPr>
          <p:cNvPr id="194" name="Google Shape;194;p8"/>
          <p:cNvSpPr/>
          <p:nvPr/>
        </p:nvSpPr>
        <p:spPr>
          <a:xfrm>
            <a:off x="548640" y="2423160"/>
            <a:ext cx="55321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8"/>
          <p:cNvSpPr txBox="1"/>
          <p:nvPr/>
        </p:nvSpPr>
        <p:spPr>
          <a:xfrm>
            <a:off x="777240" y="2606040"/>
            <a:ext cx="50749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227C80"/>
                </a:solidFill>
                <a:latin typeface="Arial"/>
                <a:ea typeface="Arial"/>
                <a:cs typeface="Arial"/>
                <a:sym typeface="Arial"/>
              </a:rPr>
              <a:t>LO QUE LOGRAMOS</a:t>
            </a:r>
            <a:endParaRPr/>
          </a:p>
        </p:txBody>
      </p:sp>
      <p:sp>
        <p:nvSpPr>
          <p:cNvPr id="196" name="Google Shape;196;p8"/>
          <p:cNvSpPr txBox="1"/>
          <p:nvPr/>
        </p:nvSpPr>
        <p:spPr>
          <a:xfrm>
            <a:off x="777240" y="3264408"/>
            <a:ext cx="50749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Un prototipo con app y portal conectados.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Coordinación de tareas y servicios por roles.</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Acceso temporal a información del adulto mayor.</a:t>
            </a:r>
            <a:endParaRPr/>
          </a:p>
        </p:txBody>
      </p:sp>
      <p:sp>
        <p:nvSpPr>
          <p:cNvPr id="197" name="Google Shape;197;p8"/>
          <p:cNvSpPr/>
          <p:nvPr/>
        </p:nvSpPr>
        <p:spPr>
          <a:xfrm>
            <a:off x="6309360" y="2423160"/>
            <a:ext cx="5303520" cy="347472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8"/>
          <p:cNvSpPr txBox="1"/>
          <p:nvPr/>
        </p:nvSpPr>
        <p:spPr>
          <a:xfrm>
            <a:off x="6537960" y="2606040"/>
            <a:ext cx="48463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A8671A"/>
                </a:solidFill>
                <a:latin typeface="Arial"/>
                <a:ea typeface="Arial"/>
                <a:cs typeface="Arial"/>
                <a:sym typeface="Arial"/>
              </a:rPr>
              <a:t>QUÉ SIGUE</a:t>
            </a:r>
            <a:endParaRPr/>
          </a:p>
        </p:txBody>
      </p:sp>
      <p:sp>
        <p:nvSpPr>
          <p:cNvPr id="199" name="Google Shape;199;p8"/>
          <p:cNvSpPr txBox="1"/>
          <p:nvPr/>
        </p:nvSpPr>
        <p:spPr>
          <a:xfrm>
            <a:off x="6537960" y="3264408"/>
            <a:ext cx="4846320" cy="2423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153E45"/>
                </a:solidFill>
                <a:latin typeface="Arial"/>
                <a:ea typeface="Arial"/>
                <a:cs typeface="Arial"/>
                <a:sym typeface="Arial"/>
              </a:rPr>
              <a:t>• Completar la valoración y el chat.</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Cerrar validaciones y confirmar pruebas Android.</a:t>
            </a:r>
            <a:endParaRPr/>
          </a:p>
          <a:p>
            <a:pPr indent="0" lvl="0" marL="0" marR="0" rtl="0" algn="l">
              <a:spcBef>
                <a:spcPts val="1200"/>
              </a:spcBef>
              <a:spcAft>
                <a:spcPts val="0"/>
              </a:spcAft>
              <a:buNone/>
            </a:pPr>
            <a:r>
              <a:rPr b="0" i="0" lang="en-US" sz="2100" u="none" cap="none" strike="noStrike">
                <a:solidFill>
                  <a:srgbClr val="153E45"/>
                </a:solidFill>
                <a:latin typeface="Arial"/>
                <a:ea typeface="Arial"/>
                <a:cs typeface="Arial"/>
                <a:sym typeface="Arial"/>
              </a:rPr>
              <a:t>• Preparar comunicaciones, nube e iOS.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E45"/>
        </a:solidFill>
      </p:bgPr>
    </p:bg>
    <p:spTree>
      <p:nvGrpSpPr>
        <p:cNvPr id="204" name="Shape 204"/>
        <p:cNvGrpSpPr/>
        <p:nvPr/>
      </p:nvGrpSpPr>
      <p:grpSpPr>
        <a:xfrm>
          <a:off x="0" y="0"/>
          <a:ext cx="0" cy="0"/>
          <a:chOff x="0" y="0"/>
          <a:chExt cx="0" cy="0"/>
        </a:xfrm>
      </p:grpSpPr>
      <p:sp>
        <p:nvSpPr>
          <p:cNvPr id="205" name="Google Shape;205;h2a12894ae9fd902e_0_0"/>
          <p:cNvSpPr txBox="1"/>
          <p:nvPr/>
        </p:nvSpPr>
        <p:spPr>
          <a:xfrm>
            <a:off x="1632775" y="2867250"/>
            <a:ext cx="8895900" cy="112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700">
                <a:solidFill>
                  <a:srgbClr val="FFFFFF"/>
                </a:solidFill>
                <a:latin typeface="Calibri"/>
                <a:ea typeface="Calibri"/>
                <a:cs typeface="Calibri"/>
                <a:sym typeface="Calibri"/>
              </a:rPr>
              <a:t>Gracias por su atencion</a:t>
            </a:r>
            <a:endParaRPr sz="3500"/>
          </a:p>
        </p:txBody>
      </p:sp>
      <p:sp>
        <p:nvSpPr>
          <p:cNvPr id="206" name="Google Shape;206;h2a12894ae9fd902e_0_0"/>
          <p:cNvSpPr txBox="1"/>
          <p:nvPr/>
        </p:nvSpPr>
        <p:spPr>
          <a:xfrm>
            <a:off x="4897187" y="4131475"/>
            <a:ext cx="2397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A8DFD2"/>
                </a:solidFill>
                <a:latin typeface="Calibri"/>
                <a:ea typeface="Calibri"/>
                <a:cs typeface="Calibri"/>
                <a:sym typeface="Calibri"/>
              </a:rPr>
              <a:t>¿Preguntas?</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
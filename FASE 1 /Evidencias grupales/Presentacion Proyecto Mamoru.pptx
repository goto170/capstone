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7DC0A8-C4D9-4E31-AA52-FDD53A122AFA}">
  <a:tblStyle styleId="{C37DC0A8-C4D9-4E31-AA52-FDD53A122A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Roboto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4176c79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4176c79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4176c79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4176c79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176c79fd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4176c79fd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4176c79fd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4176c79fd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4176c79fd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4176c79fd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4176c79fd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4176c79fd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4176c79fd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4176c79fd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176c79fd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4176c79fd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176c79fd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4176c79fd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4176c79fd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4176c79fd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176c79fd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4176c79fd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4176c79fd_0_2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4176c79fd_0_2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137000"/>
            <a:ext cx="3054600" cy="1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200"/>
              <a:t>MAMORU</a:t>
            </a:r>
            <a:endParaRPr sz="62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0" y="3814025"/>
            <a:ext cx="3789600" cy="13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Integrantes:</a:t>
            </a:r>
            <a:r>
              <a:rPr lang="es"/>
              <a:t> Diego Mellado y Antonella Valdés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Docente:</a:t>
            </a:r>
            <a:r>
              <a:rPr lang="es"/>
              <a:t> Osnellys Andrade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Asignatura</a:t>
            </a:r>
            <a:r>
              <a:rPr b="1" lang="es"/>
              <a:t>:</a:t>
            </a:r>
            <a:r>
              <a:rPr lang="es"/>
              <a:t> Capstone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Fecha:</a:t>
            </a:r>
            <a:r>
              <a:rPr lang="es"/>
              <a:t> 01/09/2026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044700" y="2556488"/>
            <a:ext cx="3054600" cy="9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Plataforma </a:t>
            </a:r>
            <a:r>
              <a:rPr lang="es" sz="2300"/>
              <a:t>tecnológica</a:t>
            </a:r>
            <a:r>
              <a:rPr lang="es" sz="2300"/>
              <a:t> para la </a:t>
            </a:r>
            <a:r>
              <a:rPr lang="es" sz="2300"/>
              <a:t>coordinación</a:t>
            </a:r>
            <a:r>
              <a:rPr lang="es" sz="2300"/>
              <a:t> del cuidado de adultos mayores</a:t>
            </a:r>
            <a:endParaRPr sz="2300"/>
          </a:p>
        </p:txBody>
      </p:sp>
      <p:pic>
        <p:nvPicPr>
          <p:cNvPr id="65" name="Google Shape;65;p13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95300" lvl="0" marL="457200" rtl="0" algn="l">
              <a:spcBef>
                <a:spcPts val="0"/>
              </a:spcBef>
              <a:spcAft>
                <a:spcPts val="0"/>
              </a:spcAft>
              <a:buSzPts val="4200"/>
              <a:buAutoNum type="arabicPeriod"/>
            </a:pPr>
            <a:r>
              <a:rPr lang="es"/>
              <a:t>Análisis</a:t>
            </a:r>
            <a:r>
              <a:rPr lang="es"/>
              <a:t> Preliminar del Caso - Contexto del caso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225225"/>
            <a:ext cx="6046500" cy="35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Mamoru se desarrolla en Chile, dentro del </a:t>
            </a:r>
            <a:r>
              <a:rPr lang="es" sz="1090"/>
              <a:t>contexto</a:t>
            </a:r>
            <a:r>
              <a:rPr lang="es" sz="1090"/>
              <a:t> del cuidado y acompañamiento de personas de 60 años o más.</a:t>
            </a:r>
            <a:endParaRPr sz="10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s" sz="1090"/>
              <a:t>La plataforma busca apoyar situaciones donde participan distintos integrantes de una red de cuidado, especialmente:</a:t>
            </a:r>
            <a:endParaRPr sz="1090"/>
          </a:p>
          <a:p>
            <a:pPr indent="-29781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Adulto mayor (usuario objetivo)</a:t>
            </a:r>
            <a:endParaRPr sz="1090"/>
          </a:p>
          <a:p>
            <a:pPr indent="-2978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Familia</a:t>
            </a:r>
            <a:endParaRPr sz="1090"/>
          </a:p>
          <a:p>
            <a:pPr indent="-2978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Cuidador</a:t>
            </a:r>
            <a:endParaRPr sz="1090"/>
          </a:p>
          <a:p>
            <a:pPr indent="-2978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Administrador de la plataforma</a:t>
            </a:r>
            <a:endParaRPr sz="10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s" sz="1090"/>
              <a:t>Datos que respaldan esta necesidad:</a:t>
            </a:r>
            <a:endParaRPr b="1" sz="1090"/>
          </a:p>
          <a:p>
            <a:pPr indent="-29781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22,2% de las personas de 60 años o </a:t>
            </a:r>
            <a:r>
              <a:rPr lang="es" sz="1090"/>
              <a:t>más</a:t>
            </a:r>
            <a:r>
              <a:rPr lang="es" sz="1090"/>
              <a:t> presentan </a:t>
            </a:r>
            <a:r>
              <a:rPr lang="es" sz="1090"/>
              <a:t>algún</a:t>
            </a:r>
            <a:r>
              <a:rPr lang="es" sz="1090"/>
              <a:t> grado de discapacidad</a:t>
            </a:r>
            <a:endParaRPr sz="1090"/>
          </a:p>
          <a:p>
            <a:pPr indent="-2978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86,2% de las personas cuidadoras de adultos mayores con </a:t>
            </a:r>
            <a:r>
              <a:rPr lang="es" sz="1090"/>
              <a:t>dependencia</a:t>
            </a:r>
            <a:r>
              <a:rPr lang="es" sz="1090"/>
              <a:t> severa vive en el mismo hogar que la persona mayor</a:t>
            </a:r>
            <a:endParaRPr sz="1090"/>
          </a:p>
          <a:p>
            <a:pPr indent="-29781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90"/>
              <a:buChar char="●"/>
            </a:pPr>
            <a:r>
              <a:rPr lang="es" sz="1090"/>
              <a:t>52,1% de las personas mayores con dependencia severa considera que necesita ayuda adicional</a:t>
            </a:r>
            <a:endParaRPr sz="10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s" sz="1090"/>
              <a:t>Fuente: ENDIDE 2022 / Observatorio del </a:t>
            </a:r>
            <a:r>
              <a:rPr lang="es" sz="1090"/>
              <a:t>envejecimiento</a:t>
            </a:r>
            <a:r>
              <a:rPr lang="es" sz="1090"/>
              <a:t> UC.</a:t>
            </a:r>
            <a:endParaRPr sz="1090"/>
          </a:p>
        </p:txBody>
      </p:sp>
      <p:pic>
        <p:nvPicPr>
          <p:cNvPr id="72" name="Google Shape;72;p14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4512877"/>
            <a:ext cx="2140776" cy="5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images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750" y="1958662"/>
            <a:ext cx="2616175" cy="174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r>
              <a:rPr lang="es"/>
              <a:t> Identificada</a:t>
            </a:r>
            <a:endParaRPr/>
          </a:p>
        </p:txBody>
      </p:sp>
      <p:cxnSp>
        <p:nvCxnSpPr>
          <p:cNvPr id="79" name="Google Shape;79;p15"/>
          <p:cNvCxnSpPr>
            <a:stCxn id="80" idx="2"/>
            <a:endCxn id="81" idx="0"/>
          </p:cNvCxnSpPr>
          <p:nvPr/>
        </p:nvCxnSpPr>
        <p:spPr>
          <a:xfrm flipH="1" rot="-5400000">
            <a:off x="5406250" y="1090900"/>
            <a:ext cx="574500" cy="22749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82" name="Google Shape;82;p15"/>
          <p:cNvCxnSpPr>
            <a:stCxn id="80" idx="2"/>
            <a:endCxn id="83" idx="0"/>
          </p:cNvCxnSpPr>
          <p:nvPr/>
        </p:nvCxnSpPr>
        <p:spPr>
          <a:xfrm rot="5400000">
            <a:off x="3918400" y="1877950"/>
            <a:ext cx="574500" cy="7008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84" name="Google Shape;84;p15"/>
          <p:cNvCxnSpPr>
            <a:stCxn id="85" idx="0"/>
            <a:endCxn id="80" idx="2"/>
          </p:cNvCxnSpPr>
          <p:nvPr/>
        </p:nvCxnSpPr>
        <p:spPr>
          <a:xfrm rot="-5400000">
            <a:off x="2376350" y="335750"/>
            <a:ext cx="574500" cy="37851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86" name="Google Shape;86;p15"/>
          <p:cNvCxnSpPr>
            <a:stCxn id="80" idx="2"/>
            <a:endCxn id="87" idx="0"/>
          </p:cNvCxnSpPr>
          <p:nvPr/>
        </p:nvCxnSpPr>
        <p:spPr>
          <a:xfrm flipH="1" rot="-5400000">
            <a:off x="6177250" y="319900"/>
            <a:ext cx="574500" cy="38169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88" name="Google Shape;88;p15"/>
          <p:cNvCxnSpPr>
            <a:stCxn id="89" idx="0"/>
            <a:endCxn id="80" idx="2"/>
          </p:cNvCxnSpPr>
          <p:nvPr/>
        </p:nvCxnSpPr>
        <p:spPr>
          <a:xfrm flipH="1" rot="5400000">
            <a:off x="4635100" y="1862000"/>
            <a:ext cx="574500" cy="732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90" name="Google Shape;90;p15"/>
          <p:cNvCxnSpPr>
            <a:stCxn id="91" idx="0"/>
            <a:endCxn id="80" idx="2"/>
          </p:cNvCxnSpPr>
          <p:nvPr/>
        </p:nvCxnSpPr>
        <p:spPr>
          <a:xfrm rot="-5400000">
            <a:off x="3147350" y="1106900"/>
            <a:ext cx="574500" cy="22428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80" name="Google Shape;80;p15"/>
          <p:cNvSpPr txBox="1"/>
          <p:nvPr/>
        </p:nvSpPr>
        <p:spPr>
          <a:xfrm>
            <a:off x="2690350" y="1356700"/>
            <a:ext cx="37314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¿Que se busca resolver con Mamoru?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542200" y="251555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Dificultades para coordinar tareas, actividades y responsabilidades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059800" y="251555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Dificultad para buscar y comparar cuidadores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601950" y="251555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Falta de trazabilidad en solicitudes y valoraciones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517650" y="2515550"/>
            <a:ext cx="1542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Falta de mecanismos centralizados para alertas y </a:t>
            </a: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notificaciones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084350" y="251555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Registro poco estructurado de observaciones e indicaciones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0" y="251555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Información</a:t>
            </a: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distribuida entre familiares y cuidadores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5"/>
          <p:cNvCxnSpPr>
            <a:stCxn id="93" idx="0"/>
            <a:endCxn id="85" idx="2"/>
          </p:cNvCxnSpPr>
          <p:nvPr/>
        </p:nvCxnSpPr>
        <p:spPr>
          <a:xfrm flipH="1" rot="5400000">
            <a:off x="610700" y="3507350"/>
            <a:ext cx="322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3" name="Google Shape;93;p15"/>
          <p:cNvSpPr txBox="1"/>
          <p:nvPr/>
        </p:nvSpPr>
        <p:spPr>
          <a:xfrm>
            <a:off x="1700" y="3669350"/>
            <a:ext cx="15420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Indicaciones repartidas entre WhatsApp, llamadas y anotaciones 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4" name="Google Shape;94;p15"/>
          <p:cNvCxnSpPr>
            <a:stCxn id="95" idx="0"/>
          </p:cNvCxnSpPr>
          <p:nvPr/>
        </p:nvCxnSpPr>
        <p:spPr>
          <a:xfrm flipH="1" rot="5400000">
            <a:off x="2151200" y="3507350"/>
            <a:ext cx="322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5" name="Google Shape;95;p15"/>
          <p:cNvSpPr txBox="1"/>
          <p:nvPr/>
        </p:nvSpPr>
        <p:spPr>
          <a:xfrm>
            <a:off x="1542200" y="366935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 está claro quién debe realizar una tarea o actividad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6" name="Google Shape;96;p15"/>
          <p:cNvCxnSpPr>
            <a:stCxn id="97" idx="0"/>
          </p:cNvCxnSpPr>
          <p:nvPr/>
        </p:nvCxnSpPr>
        <p:spPr>
          <a:xfrm flipH="1" rot="5400000">
            <a:off x="3690200" y="3507350"/>
            <a:ext cx="322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7" name="Google Shape;97;p15"/>
          <p:cNvSpPr txBox="1"/>
          <p:nvPr/>
        </p:nvSpPr>
        <p:spPr>
          <a:xfrm>
            <a:off x="3081200" y="3669350"/>
            <a:ext cx="15420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 cuidador informa una situación, pero queda perdida entre mensajes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8" name="Google Shape;98;p15"/>
          <p:cNvCxnSpPr>
            <a:stCxn id="99" idx="0"/>
          </p:cNvCxnSpPr>
          <p:nvPr/>
        </p:nvCxnSpPr>
        <p:spPr>
          <a:xfrm flipH="1" rot="5400000">
            <a:off x="5126650" y="3668600"/>
            <a:ext cx="322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9" name="Google Shape;99;p15"/>
          <p:cNvSpPr txBox="1"/>
          <p:nvPr/>
        </p:nvSpPr>
        <p:spPr>
          <a:xfrm>
            <a:off x="4517650" y="3830600"/>
            <a:ext cx="154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Una situación urgente depende de que alguien revise un mensaje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0" name="Google Shape;100;p15"/>
          <p:cNvCxnSpPr>
            <a:stCxn id="101" idx="0"/>
          </p:cNvCxnSpPr>
          <p:nvPr/>
        </p:nvCxnSpPr>
        <p:spPr>
          <a:xfrm flipH="1" rot="5400000">
            <a:off x="6668800" y="3507350"/>
            <a:ext cx="322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1" name="Google Shape;101;p15"/>
          <p:cNvSpPr txBox="1"/>
          <p:nvPr/>
        </p:nvSpPr>
        <p:spPr>
          <a:xfrm>
            <a:off x="6059800" y="3669350"/>
            <a:ext cx="1542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 familia debe buscar y contactar individualmente a distintos cuidadores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2" name="Google Shape;102;p15"/>
          <p:cNvCxnSpPr>
            <a:stCxn id="103" idx="0"/>
          </p:cNvCxnSpPr>
          <p:nvPr/>
        </p:nvCxnSpPr>
        <p:spPr>
          <a:xfrm flipH="1" rot="5400000">
            <a:off x="8209450" y="3507350"/>
            <a:ext cx="322500" cy="1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3" name="Google Shape;103;p15"/>
          <p:cNvSpPr txBox="1"/>
          <p:nvPr/>
        </p:nvSpPr>
        <p:spPr>
          <a:xfrm>
            <a:off x="7600450" y="3669350"/>
            <a:ext cx="15420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 existe un historial claro desde la solicitud hasta la valoración del servicio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4" name="Google Shape;104;p15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Justificación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¿Porque desarrollar Mamoru?</a:t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Mamoru busca abordar una necesidad concreta mediante una </a:t>
            </a:r>
            <a:r>
              <a:rPr lang="es"/>
              <a:t>solución</a:t>
            </a:r>
            <a:r>
              <a:rPr lang="es"/>
              <a:t> </a:t>
            </a:r>
            <a:r>
              <a:rPr lang="es"/>
              <a:t>tecnológica</a:t>
            </a:r>
            <a:r>
              <a:rPr lang="es"/>
              <a:t> que:</a:t>
            </a:r>
            <a:endParaRPr/>
          </a:p>
          <a:p>
            <a:pPr indent="-325755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Centraliza (</a:t>
            </a:r>
            <a:r>
              <a:rPr lang="es"/>
              <a:t>Información</a:t>
            </a:r>
            <a:r>
              <a:rPr lang="es"/>
              <a:t> y actividades del cuidado)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Coordina (Familiares y cuidadores)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Comunica (Eventos, observaciones y alertas)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Conecta (Familias con cuidadores)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Registra (Solicitudes y valoraciones)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473985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Aporte</a:t>
            </a:r>
            <a:endParaRPr b="1" sz="15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El proyecto permite aplicar competencias de Ingenieria en informatica relacionadas con:</a:t>
            </a:r>
            <a:endParaRPr sz="1500"/>
          </a:p>
          <a:p>
            <a:pPr indent="-323850" lvl="0" marL="457200" rtl="0" algn="just">
              <a:spcBef>
                <a:spcPts val="120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s" sz="1500"/>
              <a:t>Desarrollo software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s" sz="1500"/>
              <a:t>Diseño de soluciones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s" sz="1500"/>
              <a:t>Ingeniería de requisitos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s" sz="1500"/>
              <a:t>Base de datos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s" sz="1500"/>
              <a:t>Seguridad y calidad</a:t>
            </a: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Char char="●"/>
            </a:pPr>
            <a:r>
              <a:rPr lang="es" sz="1500"/>
              <a:t>Gestión</a:t>
            </a:r>
            <a:r>
              <a:rPr lang="es" sz="1500"/>
              <a:t> de proyectos</a:t>
            </a:r>
            <a:endParaRPr sz="15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2" name="Google Shape;112;p16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146750"/>
            <a:ext cx="8520600" cy="63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Descubrimiento y </a:t>
            </a:r>
            <a:r>
              <a:rPr lang="es"/>
              <a:t>visión</a:t>
            </a:r>
            <a:r>
              <a:rPr lang="es"/>
              <a:t> del producto - M.Mental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77650"/>
            <a:ext cx="8520600" cy="42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Mapa de actores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287" y="1323375"/>
            <a:ext cx="5305425" cy="3435775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3420000" dist="95250">
              <a:srgbClr val="000000">
                <a:alpha val="64000"/>
              </a:srgbClr>
            </a:outerShdw>
          </a:effectLst>
        </p:spPr>
      </p:pic>
      <p:pic>
        <p:nvPicPr>
          <p:cNvPr id="125" name="Google Shape;125;p18" title="OR_Logotipo_DuocU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</a:t>
            </a:r>
            <a:r>
              <a:rPr lang="es"/>
              <a:t>Definición</a:t>
            </a:r>
            <a:r>
              <a:rPr lang="es"/>
              <a:t> del producto - Product Goal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Mamoru se compone de: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Aplicación</a:t>
            </a:r>
            <a:r>
              <a:rPr lang="es"/>
              <a:t> </a:t>
            </a:r>
            <a:r>
              <a:rPr lang="es"/>
              <a:t>Móvil</a:t>
            </a:r>
            <a:r>
              <a:rPr lang="es"/>
              <a:t> - Para adultos mayores, familiares y cuidadores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Portal administrativo - Para </a:t>
            </a:r>
            <a:r>
              <a:rPr lang="es"/>
              <a:t>gestionar</a:t>
            </a:r>
            <a:r>
              <a:rPr lang="es"/>
              <a:t> y supervisar la plataforma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Backend/API - Para centralizar la </a:t>
            </a:r>
            <a:r>
              <a:rPr lang="es"/>
              <a:t>lógica</a:t>
            </a:r>
            <a:r>
              <a:rPr lang="es"/>
              <a:t> y </a:t>
            </a:r>
            <a:r>
              <a:rPr lang="es"/>
              <a:t>comunicación</a:t>
            </a:r>
            <a:r>
              <a:rPr lang="es"/>
              <a:t> del sistema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Base de datos - Para almacenar y gestionar la </a:t>
            </a:r>
            <a:r>
              <a:rPr lang="es"/>
              <a:t>información</a:t>
            </a:r>
            <a:r>
              <a:rPr lang="es"/>
              <a:t> de manera centralizada</a:t>
            </a:r>
            <a:endParaRPr/>
          </a:p>
        </p:txBody>
      </p:sp>
      <p:pic>
        <p:nvPicPr>
          <p:cNvPr id="132" name="Google Shape;132;p19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4512877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Visión</a:t>
            </a:r>
            <a:r>
              <a:rPr lang="es"/>
              <a:t> y cuatro pilares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11700" y="1225225"/>
            <a:ext cx="8520600" cy="12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Entrega una herramienta </a:t>
            </a:r>
            <a:r>
              <a:rPr lang="es"/>
              <a:t>centralizada</a:t>
            </a:r>
            <a:r>
              <a:rPr lang="es"/>
              <a:t> que permita a las familias organizar y supervisar el cuidado de un adulto mayor, </a:t>
            </a:r>
            <a:r>
              <a:rPr lang="es"/>
              <a:t>facilitando</a:t>
            </a:r>
            <a:r>
              <a:rPr lang="es"/>
              <a:t> la </a:t>
            </a:r>
            <a:r>
              <a:rPr lang="es"/>
              <a:t>comunicación</a:t>
            </a:r>
            <a:r>
              <a:rPr lang="es"/>
              <a:t>, </a:t>
            </a:r>
            <a:r>
              <a:rPr lang="es"/>
              <a:t>gestión</a:t>
            </a:r>
            <a:r>
              <a:rPr lang="es"/>
              <a:t> de actividades y </a:t>
            </a:r>
            <a:r>
              <a:rPr lang="es"/>
              <a:t>vinculación</a:t>
            </a:r>
            <a:r>
              <a:rPr lang="es"/>
              <a:t> con cuidadores 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107925" y="2688350"/>
            <a:ext cx="2081700" cy="1985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Valor para el cliente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Facilita la </a:t>
            </a:r>
            <a:r>
              <a:rPr lang="es"/>
              <a:t>coordinación</a:t>
            </a:r>
            <a:r>
              <a:rPr lang="es"/>
              <a:t> y entrega mayor visibilidad sobre el cuidado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2390075" y="2688350"/>
            <a:ext cx="2081700" cy="1985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Factibilidad </a:t>
            </a:r>
            <a:r>
              <a:rPr b="1" lang="es"/>
              <a:t>técnica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Arquitectura basada en </a:t>
            </a:r>
            <a:r>
              <a:rPr lang="es"/>
              <a:t>tecnologías</a:t>
            </a:r>
            <a:r>
              <a:rPr lang="es"/>
              <a:t> conocidas y componentes integrables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4672225" y="2688350"/>
            <a:ext cx="2081700" cy="1985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Sostenibilidad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Arquitectura modular que permite incorporar nuevas funcionalidades y servicios posteriormente 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6954363" y="2688350"/>
            <a:ext cx="2081700" cy="1985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Impacto </a:t>
            </a:r>
            <a:r>
              <a:rPr b="1" lang="es"/>
              <a:t>organizacional</a:t>
            </a:r>
            <a:r>
              <a:rPr b="1" lang="es"/>
              <a:t>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Centralizar procesos e </a:t>
            </a:r>
            <a:r>
              <a:rPr lang="es"/>
              <a:t>información</a:t>
            </a:r>
            <a:r>
              <a:rPr lang="es"/>
              <a:t> relacionada con </a:t>
            </a:r>
            <a:r>
              <a:rPr lang="es"/>
              <a:t>usuarios</a:t>
            </a:r>
            <a:r>
              <a:rPr lang="es"/>
              <a:t>, cuidadores y </a:t>
            </a:r>
            <a:r>
              <a:rPr lang="es"/>
              <a:t>administración</a:t>
            </a:r>
            <a:r>
              <a:rPr lang="es"/>
              <a:t> </a:t>
            </a:r>
            <a:endParaRPr/>
          </a:p>
        </p:txBody>
      </p:sp>
      <p:pic>
        <p:nvPicPr>
          <p:cNvPr id="143" name="Google Shape;143;p20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Alcance e impact Mapping </a:t>
            </a:r>
            <a:endParaRPr/>
          </a:p>
        </p:txBody>
      </p:sp>
      <p:graphicFrame>
        <p:nvGraphicFramePr>
          <p:cNvPr id="149" name="Google Shape;149;p21"/>
          <p:cNvGraphicFramePr/>
          <p:nvPr/>
        </p:nvGraphicFramePr>
        <p:xfrm>
          <a:off x="311700" y="131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{C37DC0A8-C4D9-4E31-AA52-FDD53A122AFA}</a:tableStyleId>
              </a:tblPr>
              <a:tblGrid>
                <a:gridCol w="2840200"/>
                <a:gridCol w="2840200"/>
                <a:gridCol w="2840200"/>
              </a:tblGrid>
              <a:tr h="495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Actor 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Impacto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Entregable 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  <a:tr h="54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Adulto mayor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Mayor facilidad para participar en su cuidado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Aplicación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móvil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simplificada, recordatorios  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botón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SOS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52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Familia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Mayor visibilidad y 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coordinación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Actividades, alertas, red de cuidado y notificaciones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52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Cuidador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Mejor 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organización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de sus tareas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Tareas, actividades, observaciones y solicitudes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52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Administrador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Mayor control operacional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Portal administrativo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61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Familia + Cuidador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Facilitar la 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búsqueda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y </a:t>
                      </a: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vinculación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Marketplace + perfiles + filtros + solicitudes + valoraciones 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0" name="Google Shape;150;p21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Entregables principales 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Entregables de Mamoru: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Aplicación</a:t>
            </a:r>
            <a:r>
              <a:rPr lang="es"/>
              <a:t> </a:t>
            </a:r>
            <a:r>
              <a:rPr lang="es"/>
              <a:t>móvil - Gestión del cuidado según 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Portal administrativo - Administracion y operacion de la plataforma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Backend/API - Servicio y </a:t>
            </a:r>
            <a:r>
              <a:rPr lang="es"/>
              <a:t>lógica</a:t>
            </a:r>
            <a:r>
              <a:rPr lang="es"/>
              <a:t> central del sistema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Base de datos - </a:t>
            </a:r>
            <a:r>
              <a:rPr lang="es"/>
              <a:t>Información</a:t>
            </a:r>
            <a:r>
              <a:rPr lang="es"/>
              <a:t> centralizada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Marketplace - </a:t>
            </a:r>
            <a:r>
              <a:rPr lang="es"/>
              <a:t>Búsqueda</a:t>
            </a:r>
            <a:r>
              <a:rPr lang="es"/>
              <a:t> y </a:t>
            </a:r>
            <a:r>
              <a:rPr lang="es"/>
              <a:t>vinculación</a:t>
            </a:r>
            <a:r>
              <a:rPr lang="es"/>
              <a:t> con cuidadores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alertas - Notificaciones y </a:t>
            </a:r>
            <a:r>
              <a:rPr lang="es"/>
              <a:t>botón</a:t>
            </a:r>
            <a:r>
              <a:rPr lang="es"/>
              <a:t> SOS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Seguridad - </a:t>
            </a:r>
            <a:r>
              <a:rPr lang="es"/>
              <a:t>Autenticación</a:t>
            </a:r>
            <a:r>
              <a:rPr lang="es"/>
              <a:t>, roles y controles de acceso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Pruebas - </a:t>
            </a:r>
            <a:r>
              <a:rPr lang="es"/>
              <a:t>Validación</a:t>
            </a:r>
            <a:r>
              <a:rPr lang="es"/>
              <a:t> del funcionamiento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Despliegues - Prototipo integrado funcionando </a:t>
            </a:r>
            <a:endParaRPr/>
          </a:p>
        </p:txBody>
      </p:sp>
      <p:pic>
        <p:nvPicPr>
          <p:cNvPr id="157" name="Google Shape;157;p22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</a:t>
            </a:r>
            <a:r>
              <a:rPr lang="es"/>
              <a:t>Planificación</a:t>
            </a:r>
            <a:r>
              <a:rPr lang="es"/>
              <a:t> inicial del proyecto - Objetivos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11700" y="1225225"/>
            <a:ext cx="8520600" cy="3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Objetivo General </a:t>
            </a:r>
            <a:endParaRPr b="1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Desarrollar un prototipo funcional de Mamoru que centralice la </a:t>
            </a:r>
            <a:r>
              <a:rPr lang="es"/>
              <a:t>coordinación</a:t>
            </a:r>
            <a:r>
              <a:rPr lang="es"/>
              <a:t> del cuidado de adultos mayores y facilite la </a:t>
            </a:r>
            <a:r>
              <a:rPr lang="es"/>
              <a:t>comunicación</a:t>
            </a:r>
            <a:r>
              <a:rPr lang="es"/>
              <a:t> y </a:t>
            </a:r>
            <a:r>
              <a:rPr lang="es"/>
              <a:t>vinculación</a:t>
            </a:r>
            <a:r>
              <a:rPr lang="es"/>
              <a:t> </a:t>
            </a:r>
            <a:r>
              <a:rPr lang="es"/>
              <a:t>entre</a:t>
            </a:r>
            <a:r>
              <a:rPr lang="es"/>
              <a:t> los integrantes de su red de cuidado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Objetivos </a:t>
            </a:r>
            <a:r>
              <a:rPr b="1" lang="es"/>
              <a:t>específicos</a:t>
            </a:r>
            <a:r>
              <a:rPr b="1" lang="es"/>
              <a:t> </a:t>
            </a:r>
            <a:endParaRPr b="1"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Analizar y diseñar - Identificar las necesidades y requisitos de los usuarios y definir la arquitectura de la </a:t>
            </a:r>
            <a:r>
              <a:rPr lang="es"/>
              <a:t>solución</a:t>
            </a:r>
            <a:r>
              <a:rPr lang="es"/>
              <a:t>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Desarrollar - Implementar la </a:t>
            </a:r>
            <a:r>
              <a:rPr lang="es"/>
              <a:t>aplicación</a:t>
            </a:r>
            <a:r>
              <a:rPr lang="es"/>
              <a:t> </a:t>
            </a:r>
            <a:r>
              <a:rPr lang="es"/>
              <a:t>móvil</a:t>
            </a:r>
            <a:r>
              <a:rPr lang="es"/>
              <a:t>, backend/API, portal administrativo y funcionalidades principales de coordinacion y vinculacion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Validar - Realizar </a:t>
            </a:r>
            <a:r>
              <a:rPr lang="es"/>
              <a:t>pruebas</a:t>
            </a:r>
            <a:r>
              <a:rPr lang="es"/>
              <a:t> y verificar el funcionamiento, seguridad, </a:t>
            </a:r>
            <a:r>
              <a:rPr lang="es"/>
              <a:t>integración</a:t>
            </a:r>
            <a:r>
              <a:rPr lang="es"/>
              <a:t> y usabilidad de la </a:t>
            </a:r>
            <a:r>
              <a:rPr lang="es"/>
              <a:t>solución</a:t>
            </a:r>
            <a:r>
              <a:rPr lang="es"/>
              <a:t> desarrollada  </a:t>
            </a:r>
            <a:endParaRPr/>
          </a:p>
        </p:txBody>
      </p:sp>
      <p:pic>
        <p:nvPicPr>
          <p:cNvPr id="164" name="Google Shape;164;p23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43400" y="1007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trabajo </a:t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68513" y="2523163"/>
            <a:ext cx="1173000" cy="909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FASE 2 - Desarrollo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(2 SEP - 2da sem. OCT)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67700" y="3917425"/>
            <a:ext cx="1173000" cy="721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FASE 3 - Cierre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(2da sem. OCT - 24 NOV)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1411723" y="1360825"/>
            <a:ext cx="934200" cy="52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Análisis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4"/>
          <p:cNvCxnSpPr>
            <a:stCxn id="174" idx="3"/>
            <a:endCxn id="172" idx="1"/>
          </p:cNvCxnSpPr>
          <p:nvPr/>
        </p:nvCxnSpPr>
        <p:spPr>
          <a:xfrm>
            <a:off x="1240700" y="1623175"/>
            <a:ext cx="1710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4"/>
          <p:cNvSpPr/>
          <p:nvPr/>
        </p:nvSpPr>
        <p:spPr>
          <a:xfrm>
            <a:off x="67700" y="1207525"/>
            <a:ext cx="1173000" cy="831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FASE 1 - </a:t>
            </a: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Definición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(11 AGO - 1 SEP)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2636330" y="1360825"/>
            <a:ext cx="871800" cy="52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Requisitos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4"/>
          <p:cNvCxnSpPr>
            <a:stCxn id="172" idx="3"/>
            <a:endCxn id="175" idx="1"/>
          </p:cNvCxnSpPr>
          <p:nvPr/>
        </p:nvCxnSpPr>
        <p:spPr>
          <a:xfrm>
            <a:off x="2345923" y="1623475"/>
            <a:ext cx="2904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4"/>
          <p:cNvSpPr/>
          <p:nvPr/>
        </p:nvSpPr>
        <p:spPr>
          <a:xfrm>
            <a:off x="3798520" y="1360525"/>
            <a:ext cx="934200" cy="52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Objetivos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" name="Google Shape;178;p24"/>
          <p:cNvCxnSpPr>
            <a:stCxn id="175" idx="3"/>
            <a:endCxn id="177" idx="1"/>
          </p:cNvCxnSpPr>
          <p:nvPr/>
        </p:nvCxnSpPr>
        <p:spPr>
          <a:xfrm>
            <a:off x="3508130" y="1623475"/>
            <a:ext cx="2904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4"/>
          <p:cNvSpPr/>
          <p:nvPr/>
        </p:nvSpPr>
        <p:spPr>
          <a:xfrm>
            <a:off x="5046240" y="1361425"/>
            <a:ext cx="894600" cy="52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Alcance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" name="Google Shape;180;p24"/>
          <p:cNvCxnSpPr>
            <a:stCxn id="177" idx="3"/>
            <a:endCxn id="179" idx="1"/>
          </p:cNvCxnSpPr>
          <p:nvPr/>
        </p:nvCxnSpPr>
        <p:spPr>
          <a:xfrm>
            <a:off x="4732720" y="1623175"/>
            <a:ext cx="313500" cy="9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4"/>
          <p:cNvSpPr/>
          <p:nvPr/>
        </p:nvSpPr>
        <p:spPr>
          <a:xfrm>
            <a:off x="6254338" y="1361125"/>
            <a:ext cx="959100" cy="52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Arquitectura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24"/>
          <p:cNvCxnSpPr>
            <a:stCxn id="179" idx="3"/>
            <a:endCxn id="181" idx="1"/>
          </p:cNvCxnSpPr>
          <p:nvPr/>
        </p:nvCxnSpPr>
        <p:spPr>
          <a:xfrm>
            <a:off x="5940840" y="1624075"/>
            <a:ext cx="313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4"/>
          <p:cNvSpPr/>
          <p:nvPr/>
        </p:nvSpPr>
        <p:spPr>
          <a:xfrm>
            <a:off x="7542875" y="1361125"/>
            <a:ext cx="1044000" cy="52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Planificación</a:t>
            </a: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24"/>
          <p:cNvCxnSpPr>
            <a:stCxn id="181" idx="3"/>
            <a:endCxn id="183" idx="1"/>
          </p:cNvCxnSpPr>
          <p:nvPr/>
        </p:nvCxnSpPr>
        <p:spPr>
          <a:xfrm>
            <a:off x="7213438" y="1623775"/>
            <a:ext cx="329400" cy="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24"/>
          <p:cNvSpPr/>
          <p:nvPr/>
        </p:nvSpPr>
        <p:spPr>
          <a:xfrm>
            <a:off x="1436836" y="2715463"/>
            <a:ext cx="9342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BD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6" name="Google Shape;186;p24"/>
          <p:cNvCxnSpPr>
            <a:stCxn id="170" idx="3"/>
            <a:endCxn id="185" idx="1"/>
          </p:cNvCxnSpPr>
          <p:nvPr/>
        </p:nvCxnSpPr>
        <p:spPr>
          <a:xfrm>
            <a:off x="1241513" y="2978113"/>
            <a:ext cx="195300" cy="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4"/>
          <p:cNvSpPr/>
          <p:nvPr/>
        </p:nvSpPr>
        <p:spPr>
          <a:xfrm>
            <a:off x="2572205" y="2715463"/>
            <a:ext cx="8718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Backend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" name="Google Shape;188;p24"/>
          <p:cNvCxnSpPr>
            <a:stCxn id="185" idx="3"/>
            <a:endCxn id="187" idx="1"/>
          </p:cNvCxnSpPr>
          <p:nvPr/>
        </p:nvCxnSpPr>
        <p:spPr>
          <a:xfrm>
            <a:off x="2371036" y="2978113"/>
            <a:ext cx="201300" cy="600"/>
          </a:xfrm>
          <a:prstGeom prst="bentConnector3">
            <a:avLst>
              <a:gd fmla="val 4996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4"/>
          <p:cNvSpPr/>
          <p:nvPr/>
        </p:nvSpPr>
        <p:spPr>
          <a:xfrm>
            <a:off x="3701870" y="2715763"/>
            <a:ext cx="9342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 </a:t>
            </a: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móvil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" name="Google Shape;190;p24"/>
          <p:cNvCxnSpPr>
            <a:stCxn id="187" idx="3"/>
            <a:endCxn id="189" idx="1"/>
          </p:cNvCxnSpPr>
          <p:nvPr/>
        </p:nvCxnSpPr>
        <p:spPr>
          <a:xfrm>
            <a:off x="3444005" y="2978113"/>
            <a:ext cx="258000" cy="600"/>
          </a:xfrm>
          <a:prstGeom prst="bentConnector3">
            <a:avLst>
              <a:gd fmla="val 49974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4"/>
          <p:cNvSpPr/>
          <p:nvPr/>
        </p:nvSpPr>
        <p:spPr>
          <a:xfrm>
            <a:off x="4893915" y="2716063"/>
            <a:ext cx="8946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Portal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" name="Google Shape;192;p24"/>
          <p:cNvCxnSpPr>
            <a:stCxn id="189" idx="3"/>
            <a:endCxn id="191" idx="1"/>
          </p:cNvCxnSpPr>
          <p:nvPr/>
        </p:nvCxnSpPr>
        <p:spPr>
          <a:xfrm>
            <a:off x="4636070" y="2978413"/>
            <a:ext cx="257700" cy="600"/>
          </a:xfrm>
          <a:prstGeom prst="bentConnector3">
            <a:avLst>
              <a:gd fmla="val 5002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24"/>
          <p:cNvSpPr/>
          <p:nvPr/>
        </p:nvSpPr>
        <p:spPr>
          <a:xfrm>
            <a:off x="1411723" y="4015375"/>
            <a:ext cx="934200" cy="52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Pruebas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" name="Google Shape;194;p24"/>
          <p:cNvCxnSpPr>
            <a:stCxn id="171" idx="3"/>
            <a:endCxn id="193" idx="1"/>
          </p:cNvCxnSpPr>
          <p:nvPr/>
        </p:nvCxnSpPr>
        <p:spPr>
          <a:xfrm>
            <a:off x="1240700" y="4278025"/>
            <a:ext cx="1710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4"/>
          <p:cNvSpPr/>
          <p:nvPr/>
        </p:nvSpPr>
        <p:spPr>
          <a:xfrm>
            <a:off x="2636450" y="4015675"/>
            <a:ext cx="1044000" cy="52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Correcciones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" name="Google Shape;196;p24"/>
          <p:cNvCxnSpPr>
            <a:stCxn id="193" idx="3"/>
            <a:endCxn id="195" idx="1"/>
          </p:cNvCxnSpPr>
          <p:nvPr/>
        </p:nvCxnSpPr>
        <p:spPr>
          <a:xfrm>
            <a:off x="2345923" y="4278025"/>
            <a:ext cx="290400" cy="600"/>
          </a:xfrm>
          <a:prstGeom prst="bentConnector3">
            <a:avLst>
              <a:gd fmla="val 5002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4"/>
          <p:cNvSpPr/>
          <p:nvPr/>
        </p:nvSpPr>
        <p:spPr>
          <a:xfrm>
            <a:off x="3995845" y="4015675"/>
            <a:ext cx="934200" cy="52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Despliegue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" name="Google Shape;198;p24"/>
          <p:cNvCxnSpPr>
            <a:stCxn id="195" idx="3"/>
            <a:endCxn id="197" idx="1"/>
          </p:cNvCxnSpPr>
          <p:nvPr/>
        </p:nvCxnSpPr>
        <p:spPr>
          <a:xfrm>
            <a:off x="3680450" y="4278325"/>
            <a:ext cx="315300" cy="6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24"/>
          <p:cNvSpPr/>
          <p:nvPr/>
        </p:nvSpPr>
        <p:spPr>
          <a:xfrm>
            <a:off x="5245450" y="4015975"/>
            <a:ext cx="1197000" cy="52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Documentación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4"/>
          <p:cNvCxnSpPr>
            <a:stCxn id="197" idx="3"/>
            <a:endCxn id="199" idx="1"/>
          </p:cNvCxnSpPr>
          <p:nvPr/>
        </p:nvCxnSpPr>
        <p:spPr>
          <a:xfrm>
            <a:off x="4930045" y="4278325"/>
            <a:ext cx="315300" cy="600"/>
          </a:xfrm>
          <a:prstGeom prst="bentConnector3">
            <a:avLst>
              <a:gd fmla="val 5001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24"/>
          <p:cNvSpPr/>
          <p:nvPr/>
        </p:nvSpPr>
        <p:spPr>
          <a:xfrm>
            <a:off x="6046363" y="2716063"/>
            <a:ext cx="9591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Marketplace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24"/>
          <p:cNvCxnSpPr>
            <a:stCxn id="191" idx="3"/>
            <a:endCxn id="201" idx="1"/>
          </p:cNvCxnSpPr>
          <p:nvPr/>
        </p:nvCxnSpPr>
        <p:spPr>
          <a:xfrm>
            <a:off x="5788515" y="2978713"/>
            <a:ext cx="257700" cy="600"/>
          </a:xfrm>
          <a:prstGeom prst="bentConnector3">
            <a:avLst>
              <a:gd fmla="val 50029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4"/>
          <p:cNvSpPr/>
          <p:nvPr/>
        </p:nvSpPr>
        <p:spPr>
          <a:xfrm>
            <a:off x="7238415" y="2716363"/>
            <a:ext cx="8946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Integración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24"/>
          <p:cNvCxnSpPr>
            <a:stCxn id="201" idx="3"/>
            <a:endCxn id="203" idx="1"/>
          </p:cNvCxnSpPr>
          <p:nvPr/>
        </p:nvCxnSpPr>
        <p:spPr>
          <a:xfrm>
            <a:off x="7005463" y="2978713"/>
            <a:ext cx="233100" cy="600"/>
          </a:xfrm>
          <a:prstGeom prst="bentConnector3">
            <a:avLst>
              <a:gd fmla="val 4996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4"/>
          <p:cNvSpPr/>
          <p:nvPr/>
        </p:nvSpPr>
        <p:spPr>
          <a:xfrm>
            <a:off x="8311388" y="2716363"/>
            <a:ext cx="7641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Pruebas iniciales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" name="Google Shape;206;p24"/>
          <p:cNvCxnSpPr>
            <a:stCxn id="203" idx="3"/>
            <a:endCxn id="205" idx="1"/>
          </p:cNvCxnSpPr>
          <p:nvPr/>
        </p:nvCxnSpPr>
        <p:spPr>
          <a:xfrm>
            <a:off x="8133015" y="2979013"/>
            <a:ext cx="178500" cy="600"/>
          </a:xfrm>
          <a:prstGeom prst="bentConnector3">
            <a:avLst>
              <a:gd fmla="val 49964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4"/>
          <p:cNvSpPr/>
          <p:nvPr/>
        </p:nvSpPr>
        <p:spPr>
          <a:xfrm>
            <a:off x="6757850" y="4015975"/>
            <a:ext cx="1197000" cy="52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Presentación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4"/>
          <p:cNvCxnSpPr>
            <a:endCxn id="207" idx="1"/>
          </p:cNvCxnSpPr>
          <p:nvPr/>
        </p:nvCxnSpPr>
        <p:spPr>
          <a:xfrm>
            <a:off x="6442550" y="4278025"/>
            <a:ext cx="31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9" name="Google Shape;209;p24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650"/>
              <a:t>	Gracias por su atencion</a:t>
            </a:r>
            <a:r>
              <a:rPr lang="es"/>
              <a:t> </a:t>
            </a:r>
            <a:endParaRPr/>
          </a:p>
        </p:txBody>
      </p:sp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¿Preguntas?</a:t>
            </a:r>
            <a:endParaRPr/>
          </a:p>
        </p:txBody>
      </p:sp>
      <p:pic>
        <p:nvPicPr>
          <p:cNvPr id="216" name="Google Shape;216;p25" title="OR_Logotipo_DuocU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3224" y="2"/>
            <a:ext cx="2140776" cy="5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